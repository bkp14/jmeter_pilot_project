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0996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EA580C">
              <a:alpha val="1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4023360" cy="4023360"/>
          </a:xfrm>
          <a:prstGeom prst="ellipse">
            <a:avLst/>
          </a:prstGeom>
          <a:solidFill>
            <a:srgbClr val="F97316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053328"/>
            <a:ext cx="12188952" cy="80467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28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TESTING PILOT PROJECT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24028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OrangeHRM Load, Stress &amp; Endurance Testing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22960" y="3246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JMeter  |  Leave Management Module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886200"/>
            <a:ext cx="100584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1480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D9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Scenarios: Assign Leave (Admin)  •  Edit Entitlement (Admin)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619963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Apache JMeter 5.6+        Test Types: Load · Stress · Endurance · Spike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ran this pilot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evaluate the speed, scalability, and stability of OrangeHRM's Leave Management module under realistic and extreme traffic conditions, using industry-standard JMeter workload models — and to establish a repeatable performance testing framework for future releases.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2697480"/>
            <a:ext cx="2578608" cy="2880360"/>
          </a:xfrm>
          <a:prstGeom prst="roundRect">
            <a:avLst>
              <a:gd name="adj" fmla="val 3546"/>
            </a:avLst>
          </a:prstGeom>
          <a:solidFill>
            <a:srgbClr val="FFF1E6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97180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EA580C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04672" y="36576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Responsiveness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4270248"/>
            <a:ext cx="20665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95th-percentile response times stay within 2 seconds under normal business load.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346704" y="2697480"/>
            <a:ext cx="2578608" cy="2880360"/>
          </a:xfrm>
          <a:prstGeom prst="roundRect">
            <a:avLst>
              <a:gd name="adj" fmla="val 3546"/>
            </a:avLst>
          </a:prstGeom>
          <a:solidFill>
            <a:srgbClr val="FFF1E6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02736" y="297180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EA580C"/>
          </a:solidFill>
          <a:ln/>
        </p:spPr>
      </p:sp>
      <p:sp>
        <p:nvSpPr>
          <p:cNvPr id="12" name="Text 10"/>
          <p:cNvSpPr/>
          <p:nvPr/>
        </p:nvSpPr>
        <p:spPr>
          <a:xfrm>
            <a:off x="3602736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02736" y="36576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Breaking Point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02736" y="4270248"/>
            <a:ext cx="20665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concurrency level at which Assign Leave and Edit Entitlement start to degrade.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144768" y="2697480"/>
            <a:ext cx="2578608" cy="2880360"/>
          </a:xfrm>
          <a:prstGeom prst="roundRect">
            <a:avLst>
              <a:gd name="adj" fmla="val 3546"/>
            </a:avLst>
          </a:prstGeom>
          <a:solidFill>
            <a:srgbClr val="FFF1E6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00800" y="297180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EA580C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0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400800" y="36576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Long-Run Issues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4270248"/>
            <a:ext cx="20665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memory leaks or slow degradation using a sustained endurance (soak) run.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942832" y="2697480"/>
            <a:ext cx="2578608" cy="2880360"/>
          </a:xfrm>
          <a:prstGeom prst="roundRect">
            <a:avLst>
              <a:gd name="adj" fmla="val 3546"/>
            </a:avLst>
          </a:prstGeom>
          <a:solidFill>
            <a:srgbClr val="FFF1E6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98864" y="2971800"/>
            <a:ext cx="502920" cy="502920"/>
          </a:xfrm>
          <a:prstGeom prst="roundRect">
            <a:avLst>
              <a:gd name="adj" fmla="val 16364"/>
            </a:avLst>
          </a:prstGeom>
          <a:solidFill>
            <a:srgbClr val="EA580C"/>
          </a:solidFill>
          <a:ln/>
        </p:spPr>
      </p:sp>
      <p:sp>
        <p:nvSpPr>
          <p:cNvPr id="22" name="Text 20"/>
          <p:cNvSpPr/>
          <p:nvPr/>
        </p:nvSpPr>
        <p:spPr>
          <a:xfrm>
            <a:off x="9198864" y="2971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198864" y="3657600"/>
            <a:ext cx="206654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Recovery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198864" y="4270248"/>
            <a:ext cx="20665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the application recovers to baseline within 60-90 seconds after a sudden traffic spike.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Test Scenarios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0" cy="4160520"/>
          </a:xfrm>
          <a:prstGeom prst="roundRect">
            <a:avLst>
              <a:gd name="adj" fmla="val 2500"/>
            </a:avLst>
          </a:prstGeom>
          <a:solidFill>
            <a:srgbClr val="2B2118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UNDER TEST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OrangeHRM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9C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 HRMS application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2240280" y="3246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Management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68680" y="368503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240280" y="368503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JMeter 5.6+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68680" y="41239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Role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2240280" y="4123944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8680" y="456285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2240280" y="4562856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test instance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26280" y="1600200"/>
            <a:ext cx="7114032" cy="1965960"/>
          </a:xfrm>
          <a:prstGeom prst="roundRect">
            <a:avLst>
              <a:gd name="adj" fmla="val 4651"/>
            </a:avLst>
          </a:prstGeom>
          <a:solidFill>
            <a:srgbClr val="FFF1E6"/>
          </a:solidFill>
          <a:ln w="9525">
            <a:solidFill>
              <a:srgbClr val="FDBA74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189280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89280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51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2350008"/>
            <a:ext cx="6473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Leave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846320" y="2807208"/>
            <a:ext cx="6473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navigates to the Leave module and assigns leave to an employee, exercising the leave-request creation workflow end-to-end.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26280" y="3749040"/>
            <a:ext cx="7114032" cy="1965960"/>
          </a:xfrm>
          <a:prstGeom prst="roundRect">
            <a:avLst>
              <a:gd name="adj" fmla="val 4651"/>
            </a:avLst>
          </a:prstGeom>
          <a:solidFill>
            <a:srgbClr val="FFF1E6"/>
          </a:solidFill>
          <a:ln w="9525">
            <a:solidFill>
              <a:srgbClr val="FDBA74"/>
            </a:solidFill>
            <a:prstDash val="solid"/>
          </a:ln>
          <a:effectLst>
            <a:outerShdw blurRad="635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4041648"/>
            <a:ext cx="1417320" cy="384048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4041648"/>
            <a:ext cx="1417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52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46320" y="4498848"/>
            <a:ext cx="6473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Entitlement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846320" y="4956048"/>
            <a:ext cx="6473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opens an employee's leave entitlement and edits the allotted number of days, exercising the entitlement-update workflow.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FLOW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Each Test Run Is Executed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42032" cy="3200400"/>
          </a:xfrm>
          <a:prstGeom prst="roundRect">
            <a:avLst>
              <a:gd name="adj" fmla="val 4317"/>
            </a:avLst>
          </a:prstGeom>
          <a:solidFill>
            <a:srgbClr val="FFF1E6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527048" y="1581912"/>
            <a:ext cx="585216" cy="585216"/>
          </a:xfrm>
          <a:prstGeom prst="ellipse">
            <a:avLst/>
          </a:prstGeom>
          <a:solidFill>
            <a:srgbClr val="EA58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27048" y="15819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Login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(Default)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3108960"/>
            <a:ext cx="208483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Launch_and_Login.jmx opens OrangeHRM and signs in with the built-in default admin credentials to verify the environment is reachable.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08960" y="3154680"/>
            <a:ext cx="219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346704" y="1874520"/>
            <a:ext cx="2542032" cy="3200400"/>
          </a:xfrm>
          <a:prstGeom prst="roundRect">
            <a:avLst>
              <a:gd name="adj" fmla="val 4317"/>
            </a:avLst>
          </a:prstGeom>
          <a:solidFill>
            <a:srgbClr val="FFF1E6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25112" y="1581912"/>
            <a:ext cx="585216" cy="585216"/>
          </a:xfrm>
          <a:prstGeom prst="ellipse">
            <a:avLst/>
          </a:prstGeom>
          <a:solidFill>
            <a:srgbClr val="EA58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25112" y="15819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575304" y="228600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Login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(Created)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3575304" y="3108960"/>
            <a:ext cx="208483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Launch_Login_created.jmx signs in using the admin user created by the prerequisite step, confirming new accounts work end-to-end.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07024" y="3154680"/>
            <a:ext cx="219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144768" y="1874520"/>
            <a:ext cx="2542032" cy="3200400"/>
          </a:xfrm>
          <a:prstGeom prst="roundRect">
            <a:avLst>
              <a:gd name="adj" fmla="val 4317"/>
            </a:avLst>
          </a:prstGeom>
          <a:solidFill>
            <a:srgbClr val="FFF1E6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23176" y="1581912"/>
            <a:ext cx="585216" cy="585216"/>
          </a:xfrm>
          <a:prstGeom prst="ellipse">
            <a:avLst/>
          </a:prstGeom>
          <a:solidFill>
            <a:srgbClr val="EA58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23176" y="15819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373368" y="228600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Prerequisite.jmx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 Setup)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373368" y="3108960"/>
            <a:ext cx="208483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the employees, admin users, and leave entitlements needed as test data before the real load test runs.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705088" y="3154680"/>
            <a:ext cx="21945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8942832" y="1874520"/>
            <a:ext cx="2542032" cy="3200400"/>
          </a:xfrm>
          <a:prstGeom prst="roundRect">
            <a:avLst>
              <a:gd name="adj" fmla="val 4317"/>
            </a:avLst>
          </a:prstGeom>
          <a:solidFill>
            <a:srgbClr val="EA580C"/>
          </a:solidFill>
          <a:ln/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921240" y="1581912"/>
            <a:ext cx="585216" cy="585216"/>
          </a:xfrm>
          <a:prstGeom prst="ellipse">
            <a:avLst/>
          </a:prstGeom>
          <a:solidFill>
            <a:srgbClr val="C2410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921240" y="1581912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171432" y="2286000"/>
            <a:ext cx="208483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final1.jmx</a:t>
            </a:r>
            <a:endParaRPr lang="en-US" sz="1550" dirty="0"/>
          </a:p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(Main Test)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9171432" y="3108960"/>
            <a:ext cx="2084832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FE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actual performance test: runs Assign Leave and Edit Entitlement under Load / Stress / Endurance / Spike workload models.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5349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Prerequisite.jmx is run once before each test cycle to (re)generate clean employee, user and entitlement data consumed via CSV Data Set Config in final1.jmx.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Structure Inside final1.jmx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reusable Test Fragment drives both business scenarios, keeping the script DRY and easy to maintain.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66544"/>
            <a:ext cx="82296" cy="8229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65960"/>
            <a:ext cx="6309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949440" y="1965960"/>
            <a:ext cx="4709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Defined Variables · HTTP Request Defaults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960120" y="2523744"/>
            <a:ext cx="82296" cy="8229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9" name="Text 7"/>
          <p:cNvSpPr/>
          <p:nvPr/>
        </p:nvSpPr>
        <p:spPr>
          <a:xfrm>
            <a:off x="1161288" y="2423160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Group (Open Model / Ultimate)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949440" y="2423160"/>
            <a:ext cx="4709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Load, Stress, Endurance or Spike shape applied per run</a:t>
            </a:r>
            <a:endParaRPr lang="en-US" sz="1030" dirty="0"/>
          </a:p>
        </p:txBody>
      </p:sp>
      <p:sp>
        <p:nvSpPr>
          <p:cNvPr id="11" name="Shape 9"/>
          <p:cNvSpPr/>
          <p:nvPr/>
        </p:nvSpPr>
        <p:spPr>
          <a:xfrm>
            <a:off x="1371600" y="2939796"/>
            <a:ext cx="82296" cy="8229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2" name="Text 10"/>
          <p:cNvSpPr/>
          <p:nvPr/>
        </p:nvSpPr>
        <p:spPr>
          <a:xfrm>
            <a:off x="1572768" y="2839212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Cookie / Cache / Header Manager</a:t>
            </a:r>
            <a:endParaRPr lang="en-US" sz="1130" dirty="0"/>
          </a:p>
        </p:txBody>
      </p:sp>
      <p:sp>
        <p:nvSpPr>
          <p:cNvPr id="13" name="Text 11"/>
          <p:cNvSpPr/>
          <p:nvPr/>
        </p:nvSpPr>
        <p:spPr>
          <a:xfrm>
            <a:off x="6949440" y="2839212"/>
            <a:ext cx="4709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handling shared across all requests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1371600" y="3355848"/>
            <a:ext cx="82296" cy="8229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5" name="Text 13"/>
          <p:cNvSpPr/>
          <p:nvPr/>
        </p:nvSpPr>
        <p:spPr>
          <a:xfrm>
            <a:off x="1572768" y="3255264"/>
            <a:ext cx="5760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Assign_Leave  &amp;  Edit_Entitlement  (Transaction Controllers)</a:t>
            </a:r>
            <a:endParaRPr lang="en-US" sz="1130" dirty="0"/>
          </a:p>
        </p:txBody>
      </p:sp>
      <p:sp>
        <p:nvSpPr>
          <p:cNvPr id="16" name="Text 14"/>
          <p:cNvSpPr/>
          <p:nvPr/>
        </p:nvSpPr>
        <p:spPr>
          <a:xfrm>
            <a:off x="6949440" y="3255264"/>
            <a:ext cx="4709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business scenario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1783080" y="3771900"/>
            <a:ext cx="82296" cy="8229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8" name="Text 16"/>
          <p:cNvSpPr/>
          <p:nvPr/>
        </p:nvSpPr>
        <p:spPr>
          <a:xfrm>
            <a:off x="1984248" y="3671316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Controller → Include Controller → Test Fragment_Leave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6949440" y="3671316"/>
            <a:ext cx="4709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reusable request flow (login → navigate → act)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1783080" y="4187952"/>
            <a:ext cx="82296" cy="8229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1984248" y="4087368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 Set Config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6949440" y="4087368"/>
            <a:ext cx="4709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empnumber1.csv, entitlementId.csv, admin_users.csv feed unique data per thread</a:t>
            </a:r>
            <a:endParaRPr lang="en-US" sz="1030" dirty="0"/>
          </a:p>
        </p:txBody>
      </p:sp>
      <p:sp>
        <p:nvSpPr>
          <p:cNvPr id="23" name="Shape 21"/>
          <p:cNvSpPr/>
          <p:nvPr/>
        </p:nvSpPr>
        <p:spPr>
          <a:xfrm>
            <a:off x="1783080" y="4604004"/>
            <a:ext cx="82296" cy="8229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4" name="Text 22"/>
          <p:cNvSpPr/>
          <p:nvPr/>
        </p:nvSpPr>
        <p:spPr>
          <a:xfrm>
            <a:off x="1984248" y="4503420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Extractor / JSR223 PostProcessor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6949440" y="4503420"/>
            <a:ext cx="4709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Correlates session IDs &amp; CSRF tokens between requests</a:t>
            </a:r>
            <a:endParaRPr lang="en-US" sz="1030" dirty="0"/>
          </a:p>
        </p:txBody>
      </p:sp>
      <p:sp>
        <p:nvSpPr>
          <p:cNvPr id="26" name="Shape 24"/>
          <p:cNvSpPr/>
          <p:nvPr/>
        </p:nvSpPr>
        <p:spPr>
          <a:xfrm>
            <a:off x="1783080" y="5020056"/>
            <a:ext cx="82296" cy="8229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7" name="Text 25"/>
          <p:cNvSpPr/>
          <p:nvPr/>
        </p:nvSpPr>
        <p:spPr>
          <a:xfrm>
            <a:off x="1984248" y="4919472"/>
            <a:ext cx="54864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3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Assertion</a:t>
            </a:r>
            <a:endParaRPr lang="en-US" sz="1130" dirty="0"/>
          </a:p>
        </p:txBody>
      </p:sp>
      <p:sp>
        <p:nvSpPr>
          <p:cNvPr id="28" name="Text 26"/>
          <p:cNvSpPr/>
          <p:nvPr/>
        </p:nvSpPr>
        <p:spPr>
          <a:xfrm>
            <a:off x="6949440" y="4919472"/>
            <a:ext cx="4709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each step returns the expected result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960120" y="5436108"/>
            <a:ext cx="82296" cy="8229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0" name="Text 28"/>
          <p:cNvSpPr/>
          <p:nvPr/>
        </p:nvSpPr>
        <p:spPr>
          <a:xfrm>
            <a:off x="1161288" y="5335524"/>
            <a:ext cx="6035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Listeners: Summary Report · Aggregate Report · View Results Tree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949440" y="5335524"/>
            <a:ext cx="4709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Captured to .jtl for reporting &amp; dashboards</a:t>
            </a:r>
            <a:endParaRPr lang="en-US" sz="1030" dirty="0"/>
          </a:p>
        </p:txBody>
      </p:sp>
      <p:sp>
        <p:nvSpPr>
          <p:cNvPr id="32" name="Shape 30"/>
          <p:cNvSpPr/>
          <p:nvPr/>
        </p:nvSpPr>
        <p:spPr>
          <a:xfrm>
            <a:off x="548640" y="5852160"/>
            <a:ext cx="82296" cy="82296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33" name="Text 31"/>
          <p:cNvSpPr/>
          <p:nvPr/>
        </p:nvSpPr>
        <p:spPr>
          <a:xfrm>
            <a:off x="749808" y="5751576"/>
            <a:ext cx="6309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tearDown Thread Group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6949440" y="5751576"/>
            <a:ext cx="47091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30" i="1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Deletes employees created during the run to keep data clean</a:t>
            </a:r>
            <a:endParaRPr lang="en-US" sz="1030" dirty="0"/>
          </a:p>
        </p:txBody>
      </p:sp>
      <p:sp>
        <p:nvSpPr>
          <p:cNvPr id="35" name="Text 33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TOOLKIT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JMeter Components Used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1E6"/>
          </a:solidFill>
          <a:ln/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49808" y="172821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 Groups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207568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Model Thread Group (bzm)</a:t>
            </a:r>
            <a:endParaRPr lang="en-US" sz="108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 Thread Group</a:t>
            </a:r>
            <a:endParaRPr lang="en-US" sz="108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tearDown Thread Group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4251960" y="16002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1E6"/>
          </a:solidFill>
          <a:ln/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453128" y="172821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453128" y="207568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Controller</a:t>
            </a:r>
            <a:endParaRPr lang="en-US" sz="108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&amp; Include Controller</a:t>
            </a:r>
            <a:endParaRPr lang="en-US" sz="108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/ While Controller</a:t>
            </a:r>
            <a:endParaRPr lang="en-US" sz="108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Fragment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7955280" y="16002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1E6"/>
          </a:solidFill>
          <a:ln/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156448" y="172821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Samplers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156448" y="207568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</a:t>
            </a:r>
            <a:endParaRPr lang="en-US" sz="108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JSR223 Sampler</a:t>
            </a:r>
            <a:endParaRPr lang="en-US" sz="108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Sampler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1E6"/>
          </a:solidFill>
          <a:ln/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332841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Elements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49808" y="367588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 Set Config</a:t>
            </a:r>
            <a:endParaRPr lang="en-US" sz="108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Defaults</a:t>
            </a:r>
            <a:endParaRPr lang="en-US" sz="108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Defined Variables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4251960" y="32004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1E6"/>
          </a:solidFill>
          <a:ln/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453128" y="332841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Pre/Post Processors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53128" y="367588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Extractor</a:t>
            </a:r>
            <a:endParaRPr lang="en-US" sz="108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Extractor / JSR223 PostProcessor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955280" y="32004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1E6"/>
          </a:solidFill>
          <a:ln/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156448" y="332841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Managers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156448" y="367588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Cookie Manager</a:t>
            </a:r>
            <a:endParaRPr lang="en-US" sz="108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Cache Manager</a:t>
            </a:r>
            <a:endParaRPr lang="en-US" sz="108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Header Manager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548640" y="48006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1E6"/>
          </a:solidFill>
          <a:ln/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9808" y="492861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Assertions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49808" y="527608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Assertion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251960" y="48006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1E6"/>
          </a:solidFill>
          <a:ln/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453128" y="492861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Timers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453128" y="527608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Random Timer</a:t>
            </a:r>
            <a:endParaRPr lang="en-US" sz="108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Random Timer</a:t>
            </a:r>
            <a:endParaRPr lang="en-US" sz="1080" dirty="0"/>
          </a:p>
        </p:txBody>
      </p:sp>
      <p:sp>
        <p:nvSpPr>
          <p:cNvPr id="28" name="Shape 26"/>
          <p:cNvSpPr/>
          <p:nvPr/>
        </p:nvSpPr>
        <p:spPr>
          <a:xfrm>
            <a:off x="7955280" y="480060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FF1E6"/>
          </a:solidFill>
          <a:ln/>
          <a:effectLst>
            <a:outerShdw blurRad="50800" dist="1905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156448" y="4928616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Listeners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156448" y="527608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Report</a:t>
            </a:r>
            <a:endParaRPr lang="en-US" sz="108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Report</a:t>
            </a:r>
            <a:endParaRPr lang="en-US" sz="108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Results Tree</a:t>
            </a:r>
            <a:endParaRPr lang="en-US" sz="108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Dashboard Report</a:t>
            </a:r>
            <a:endParaRPr lang="en-US" sz="1080" dirty="0"/>
          </a:p>
        </p:txBody>
      </p:sp>
      <p:sp>
        <p:nvSpPr>
          <p:cNvPr id="31" name="Text 29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Load Shapes, One Framework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8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scenarios (Assign Leave &amp; Edit Entitlement) are driven through the same four workload models, each targeting a different non-functional characteristic — following the standard Performance Testing Life Cycle (PTLC).</a:t>
            </a:r>
            <a:endParaRPr lang="en-US" sz="128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Type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Peak Load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Approx. Duration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Goal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(Poisson arrivals)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users/min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min / cycle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expected business load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(5-step ramp)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concurrent 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~11.7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the breaking point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Endurance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(sustained plateau)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concurrent 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~36.3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Detect leaks / degradation over time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(sudden burst)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concurrent users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 min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 recovery from sudden surges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349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Ramp-up → steady-state → ramp-down / cool-down is applied consistently across all four models, per industry PTLC practice.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MODEL · LOAD TEST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Model — Arrival Rate Over Time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074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Model Thread Group (bzm plugin) drives traffic by arrival rate rather than a fixed thread count. random_arrivals() spreads user arrivals randomly within each minute, mimicking genuine uncoordinated user behaviour.</a:t>
            </a:r>
            <a:endParaRPr lang="en-US" sz="123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880360"/>
          <a:ext cx="507492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Ramp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Ramp 2 (peak)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10/min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Ramp 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5/min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Cool-down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07492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Recommendation: run 3–5 repeating cycles (~15–25 min) for a statistically stable p95 response time.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897880" y="1371600"/>
            <a:ext cx="57607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FDBA74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0" descr="assets/loa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08760"/>
            <a:ext cx="5486400" cy="2907792"/>
          </a:xfrm>
          <a:prstGeom prst="rect">
            <a:avLst/>
          </a:prstGeom>
        </p:spPr>
      </p:pic>
      <p:sp>
        <p:nvSpPr>
          <p:cNvPr id="5" name="Text 5"/>
          <p:cNvSpPr/>
          <p:nvPr/>
        </p:nvSpPr>
        <p:spPr>
          <a:xfrm>
            <a:off x="6035040" y="4480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JMeter scheduler view — Load Test arrival-rate schedule</a:t>
            </a:r>
            <a:endParaRPr lang="en-US" sz="1050" dirty="0"/>
          </a:p>
        </p:txBody>
      </p:sp>
      <p:pic>
        <p:nvPicPr>
          <p:cNvPr id="10" name="Image 1" descr="assets/loa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4846320"/>
            <a:ext cx="2743200" cy="9601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MODEL · STRESS TEST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 Model — Stepped Ramp to 50 Users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5074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3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 Thread Group builds concurrency in five overlapping steps of 10 users each, up to a peak of 50 concurrent users, then releases load symmetrically — letting analysts correlate each step with response-time and error trends.</a:t>
            </a:r>
            <a:endParaRPr lang="en-US" sz="123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26080"/>
          <a:ext cx="5074920" cy="2029968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(s)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3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074920"/>
            <a:ext cx="5074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Concurrency climbs 0→50 users by ~min 8:30, plateaus, then symmetrically steps back down by ~min 11:40.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897880" y="1371600"/>
            <a:ext cx="5760720" cy="4526280"/>
          </a:xfrm>
          <a:prstGeom prst="roundRect">
            <a:avLst>
              <a:gd name="adj" fmla="val 1212"/>
            </a:avLst>
          </a:prstGeom>
          <a:solidFill>
            <a:srgbClr val="FFFFFF"/>
          </a:solidFill>
          <a:ln w="12700">
            <a:solidFill>
              <a:srgbClr val="FDBA74"/>
            </a:solidFill>
            <a:prstDash val="solid"/>
          </a:ln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8" name="Image 0" descr="assets/stres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08760"/>
            <a:ext cx="5486400" cy="29077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35040" y="44805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20" i="1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 Thread Group scheduler — staircase ramp to peak concurrency (jp@gc)</a:t>
            </a:r>
            <a:endParaRPr lang="en-US" sz="1020" dirty="0"/>
          </a:p>
        </p:txBody>
      </p:sp>
      <p:pic>
        <p:nvPicPr>
          <p:cNvPr id="5" name="Image 1" descr="assets/stress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4846320"/>
            <a:ext cx="2743200" cy="96012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MODEL · ENDURANCE &amp; SPIKE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Soak &amp; Sudden Surge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120640" cy="4434840"/>
          </a:xfrm>
          <a:prstGeom prst="roundRect">
            <a:avLst>
              <a:gd name="adj" fmla="val 2062"/>
            </a:avLst>
          </a:prstGeom>
          <a:solidFill>
            <a:srgbClr val="FFF1E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 (SOAK) TEST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45720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Single-step Ultimate Thread Group holds a moderate, steady user count for an extended duration to expose memory leaks or gradual decay.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3108960"/>
          <a:ext cx="4572000" cy="82296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Ramp-up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For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Ramp-down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2000 s (~33.3 min)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822960" y="41148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30" i="1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concurrent users held for ~33 min (~36.3 min total run) — a pilot-scaled equivalent of a multi-hour production soak test.</a:t>
            </a:r>
            <a:endParaRPr lang="en-US" sz="1130" dirty="0"/>
          </a:p>
        </p:txBody>
      </p:sp>
      <p:sp>
        <p:nvSpPr>
          <p:cNvPr id="9" name="Text 6"/>
          <p:cNvSpPr/>
          <p:nvPr/>
        </p:nvSpPr>
        <p:spPr>
          <a:xfrm>
            <a:off x="822960" y="4983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no continuous upward trend in response time or memory/thread usage over the run.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897880" y="1463040"/>
            <a:ext cx="5742432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FDBA74"/>
            </a:solidFill>
            <a:prstDash val="solid"/>
          </a:ln>
          <a:effectLst>
            <a:outerShdw blurRad="76200" dist="25400" dir="5400000" algn="bl" rotWithShape="0">
              <a:srgbClr val="000000">
                <a:alpha val="15000"/>
              </a:srgbClr>
            </a:outerShdw>
          </a:effectLst>
        </p:spPr>
      </p:sp>
      <p:pic>
        <p:nvPicPr>
          <p:cNvPr id="7" name="Image 0" descr="assets/spik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54480"/>
            <a:ext cx="5486400" cy="21488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897880" y="3886200"/>
            <a:ext cx="5742432" cy="2011680"/>
          </a:xfrm>
          <a:prstGeom prst="roundRect">
            <a:avLst>
              <a:gd name="adj" fmla="val 4545"/>
            </a:avLst>
          </a:prstGeom>
          <a:solidFill>
            <a:srgbClr val="2B2118"/>
          </a:solidFill>
          <a:ln/>
        </p:spPr>
      </p:sp>
      <p:sp>
        <p:nvSpPr>
          <p:cNvPr id="13" name="Text 9"/>
          <p:cNvSpPr/>
          <p:nvPr/>
        </p:nvSpPr>
        <p:spPr>
          <a:xfrm>
            <a:off x="6172200" y="4041648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TEST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172200" y="434340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80" dirty="0">
                <a:solidFill>
                  <a:srgbClr val="E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Model Thread Group drives a sudden burst: 1 → 10 → 2 users, validating recovery to baseline response time within a 60–90 second SLA once the spike subsides.</a:t>
            </a:r>
            <a:endParaRPr lang="en-US" sz="1180" dirty="0"/>
          </a:p>
        </p:txBody>
      </p:sp>
      <p:sp>
        <p:nvSpPr>
          <p:cNvPr id="15" name="Text 11"/>
          <p:cNvSpPr/>
          <p:nvPr/>
        </p:nvSpPr>
        <p:spPr>
          <a:xfrm>
            <a:off x="6172200" y="52120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(2) → Sudden Spike (10) → Recovery (3)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REPORTS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Snapshot Across All Runs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below are pulled directly from each run's JMeter HTML Dashboard Report (aggregate “Total” row).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113688"/>
              </p:ext>
            </p:extLst>
          </p:nvPr>
        </p:nvGraphicFramePr>
        <p:xfrm>
          <a:off x="548640" y="1920240"/>
          <a:ext cx="11064240" cy="3360420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Samples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p90 (ms)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Throughput (tx/s)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58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– Scenario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2,372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6,021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Load – Scenario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1,581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3,235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150" b="1" dirty="0">
                        <a:solidFill>
                          <a:srgbClr val="3A2A1E"/>
                        </a:solidFill>
                        <a:latin typeface="Calibri" pitchFamily="34" charset="0"/>
                        <a:ea typeface="Calibri" pitchFamily="34" charset="-122"/>
                        <a:cs typeface="Calibri" pitchFamily="34" charset="-12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b="1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Endurance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4,852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C2410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5.09%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11,031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33.47%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18,291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1,399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33,429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Spike – Scenario 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5,970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5,391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10,819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Spike – Scenario 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1580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2,568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2,265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4,616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3A2A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3D9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5074920"/>
            <a:ext cx="10881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A2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and Spike runs stayed close to target error rates. The Stress run's rising error rate marks the approach to the breaking point. The Endurance run's high error % and response-time growth flags a degradation pattern worth root-causing before the next cycle.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Criteria &amp; Performance Goals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84832" cy="2926080"/>
          </a:xfrm>
          <a:prstGeom prst="roundRect">
            <a:avLst>
              <a:gd name="adj" fmla="val 4386"/>
            </a:avLst>
          </a:prstGeom>
          <a:solidFill>
            <a:srgbClr val="FFF1E6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16736" y="1965960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6" name="Text 4"/>
          <p:cNvSpPr/>
          <p:nvPr/>
        </p:nvSpPr>
        <p:spPr>
          <a:xfrm>
            <a:off x="1316736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65176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13232" y="3200400"/>
            <a:ext cx="175564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6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95th-percentile response time within 2 seconds under normal (Load Test) conditions.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2779776" y="1691640"/>
            <a:ext cx="2084832" cy="2926080"/>
          </a:xfrm>
          <a:prstGeom prst="roundRect">
            <a:avLst>
              <a:gd name="adj" fmla="val 4386"/>
            </a:avLst>
          </a:prstGeom>
          <a:solidFill>
            <a:srgbClr val="FFF1E6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547872" y="1965960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16936" y="265176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2944368" y="3200400"/>
            <a:ext cx="175564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6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must support at least 20 concurrent users without measurable degradation.</a:t>
            </a:r>
            <a:endParaRPr lang="en-US" sz="1060" dirty="0"/>
          </a:p>
        </p:txBody>
      </p:sp>
      <p:sp>
        <p:nvSpPr>
          <p:cNvPr id="14" name="Shape 12"/>
          <p:cNvSpPr/>
          <p:nvPr/>
        </p:nvSpPr>
        <p:spPr>
          <a:xfrm>
            <a:off x="5010912" y="1691640"/>
            <a:ext cx="2084832" cy="2926080"/>
          </a:xfrm>
          <a:prstGeom prst="roundRect">
            <a:avLst>
              <a:gd name="adj" fmla="val 4386"/>
            </a:avLst>
          </a:prstGeom>
          <a:solidFill>
            <a:srgbClr val="FFF1E6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9008" y="1965960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5779008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48072" y="265176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Rate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175504" y="3200400"/>
            <a:ext cx="175564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6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1% during Load and Endurance testing.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7242048" y="1691640"/>
            <a:ext cx="2084832" cy="2926080"/>
          </a:xfrm>
          <a:prstGeom prst="roundRect">
            <a:avLst>
              <a:gd name="adj" fmla="val 4386"/>
            </a:avLst>
          </a:prstGeom>
          <a:solidFill>
            <a:srgbClr val="FFF1E6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010144" y="1965960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1" name="Text 19"/>
          <p:cNvSpPr/>
          <p:nvPr/>
        </p:nvSpPr>
        <p:spPr>
          <a:xfrm>
            <a:off x="8010144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79208" y="265176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Time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7406640" y="3200400"/>
            <a:ext cx="175564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6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spike, response time returns to baseline within 60–90 seconds.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9473184" y="1691640"/>
            <a:ext cx="2084832" cy="2926080"/>
          </a:xfrm>
          <a:prstGeom prst="roundRect">
            <a:avLst>
              <a:gd name="adj" fmla="val 4386"/>
            </a:avLst>
          </a:prstGeom>
          <a:solidFill>
            <a:srgbClr val="FFF1E6"/>
          </a:solidFill>
          <a:ln/>
          <a:effectLst>
            <a:outerShdw blurRad="635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241280" y="1965960"/>
            <a:ext cx="548640" cy="548640"/>
          </a:xfrm>
          <a:prstGeom prst="ellipse">
            <a:avLst/>
          </a:prstGeom>
          <a:solidFill>
            <a:srgbClr val="EA580C"/>
          </a:solidFill>
          <a:ln/>
        </p:spPr>
      </p:sp>
      <p:sp>
        <p:nvSpPr>
          <p:cNvPr id="26" name="Text 24"/>
          <p:cNvSpPr/>
          <p:nvPr/>
        </p:nvSpPr>
        <p:spPr>
          <a:xfrm>
            <a:off x="1024128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610344" y="2651760"/>
            <a:ext cx="18105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B21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9637776" y="3200400"/>
            <a:ext cx="175564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6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continuous upward trend in response time or memory/thread usage during Endurance.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548640" y="4846320"/>
            <a:ext cx="11064240" cy="1234440"/>
          </a:xfrm>
          <a:prstGeom prst="roundRect">
            <a:avLst>
              <a:gd name="adj" fmla="val 7407"/>
            </a:avLst>
          </a:prstGeom>
          <a:solidFill>
            <a:srgbClr val="2B2118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983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2960" y="5257800"/>
            <a:ext cx="105156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E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environment is dedicated and representative of production.</a:t>
            </a:r>
            <a:endParaRPr lang="en-US" sz="108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E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credentials &amp; CSV test data (empnumber1.csv) are unique per virtual user.</a:t>
            </a:r>
            <a:endParaRPr lang="en-US" sz="1080" dirty="0"/>
          </a:p>
          <a:p>
            <a:pPr marL="342900" indent="-342900">
              <a:spcAft>
                <a:spcPts val="200"/>
              </a:spcAft>
              <a:buSzPct val="100000"/>
              <a:buChar char="●"/>
            </a:pPr>
            <a:r>
              <a:rPr lang="en-US" sz="1080" dirty="0">
                <a:solidFill>
                  <a:srgbClr val="E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values (session IDs, CSRF tokens) are correlated via the Test Fragment / Include Controller.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115671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5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B21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EA580C">
              <a:alpha val="16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326880" y="3840480"/>
            <a:ext cx="4572000" cy="4572000"/>
          </a:xfrm>
          <a:prstGeom prst="ellipse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960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37160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PTLC Coverage for the Leave Module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9509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E7D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an open arrival model for everyday load with staged closed models for stress and endurance — plus a recommended spike test — this pilot delivers full Load / Stress / Endurance / Spike coverage for the Assign Leave and Edit Entitlement workflows, giving a confident, repeatable baseline for OrangeHRM's performance going forward.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950976" cy="502920"/>
          </a:xfrm>
          <a:prstGeom prst="roundRect">
            <a:avLst>
              <a:gd name="adj" fmla="val 50909"/>
            </a:avLst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977640"/>
            <a:ext cx="95097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✓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75104" y="3977640"/>
            <a:ext cx="1161288" cy="502920"/>
          </a:xfrm>
          <a:prstGeom prst="roundRect">
            <a:avLst>
              <a:gd name="adj" fmla="val 50909"/>
            </a:avLst>
          </a:prstGeom>
          <a:solidFill>
            <a:srgbClr val="EA580C"/>
          </a:solidFill>
          <a:ln/>
        </p:spPr>
      </p:sp>
      <p:sp>
        <p:nvSpPr>
          <p:cNvPr id="10" name="Text 8"/>
          <p:cNvSpPr/>
          <p:nvPr/>
        </p:nvSpPr>
        <p:spPr>
          <a:xfrm>
            <a:off x="1975104" y="3977640"/>
            <a:ext cx="116128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3977640"/>
            <a:ext cx="1476756" cy="502920"/>
          </a:xfrm>
          <a:prstGeom prst="roundRect">
            <a:avLst>
              <a:gd name="adj" fmla="val 50909"/>
            </a:avLst>
          </a:prstGeom>
          <a:solidFill>
            <a:srgbClr val="EA580C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3977640"/>
            <a:ext cx="147675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Endurance ✓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15484" y="3977640"/>
            <a:ext cx="2528316" cy="502920"/>
          </a:xfrm>
          <a:prstGeom prst="roundRect">
            <a:avLst>
              <a:gd name="adj" fmla="val 50909"/>
            </a:avLst>
          </a:prstGeom>
          <a:solidFill>
            <a:srgbClr val="EA580C"/>
          </a:solidFill>
          <a:ln/>
        </p:spPr>
      </p:sp>
      <p:sp>
        <p:nvSpPr>
          <p:cNvPr id="14" name="Text 12"/>
          <p:cNvSpPr/>
          <p:nvPr/>
        </p:nvSpPr>
        <p:spPr>
          <a:xfrm>
            <a:off x="5015484" y="3977640"/>
            <a:ext cx="25283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(recommended) ✓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" y="5029200"/>
            <a:ext cx="1005840" cy="54864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2578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JMeter Pilot Project — OrangeHRM Leave Management Module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1577</Words>
  <Application>Microsoft Office PowerPoint</Application>
  <PresentationFormat>Widescreen</PresentationFormat>
  <Paragraphs>315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Krishna Prasath</cp:lastModifiedBy>
  <cp:revision>2</cp:revision>
  <dcterms:created xsi:type="dcterms:W3CDTF">2026-07-31T01:20:26Z</dcterms:created>
  <dcterms:modified xsi:type="dcterms:W3CDTF">2026-07-31T01:44:57Z</dcterms:modified>
</cp:coreProperties>
</file>