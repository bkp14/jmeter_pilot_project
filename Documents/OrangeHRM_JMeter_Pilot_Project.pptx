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0996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EA580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4023360" cy="4023360"/>
          </a:xfrm>
          <a:prstGeom prst="ellipse">
            <a:avLst/>
          </a:prstGeom>
          <a:solidFill>
            <a:srgbClr val="F97316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53328"/>
            <a:ext cx="12188952" cy="80467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TESTING PILOT PROJECT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OrangeHRM Load, Stress &amp; Endurance Testing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JMeter  |  Leave Management Module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886200"/>
            <a:ext cx="100584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Scenarios: Assign Leave (Admin)  •  Edit Entitlement (Admin)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1996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Apache JMeter 5.6+        Test Types: Load · Stress · Endurance · Spike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ran this pilot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the speed, scalability, and stability of OrangeHRM's Leave Management module under realistic and extreme traffic conditions, using industry-standard JMeter workload models — and to establish a repeatable performance testing framework for future releases.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578608" cy="2880360"/>
          </a:xfrm>
          <a:prstGeom prst="roundRect">
            <a:avLst>
              <a:gd name="adj" fmla="val 3546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71800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36576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Responsiveness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4270248"/>
            <a:ext cx="20665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95th-percentile response times stay within 2 seconds under normal business load.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2697480"/>
            <a:ext cx="2578608" cy="2880360"/>
          </a:xfrm>
          <a:prstGeom prst="roundRect">
            <a:avLst>
              <a:gd name="adj" fmla="val 3546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971800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02736" y="36576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Breaking Point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4270248"/>
            <a:ext cx="20665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concurrency level at which Assign Leave and Edit Entitlement start to degrade.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44768" y="2697480"/>
            <a:ext cx="2578608" cy="2880360"/>
          </a:xfrm>
          <a:prstGeom prst="roundRect">
            <a:avLst>
              <a:gd name="adj" fmla="val 3546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2971800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36576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Long-Run Issues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4270248"/>
            <a:ext cx="20665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memory leaks or slow degradation using a sustained endurance (soak) run.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42832" y="2697480"/>
            <a:ext cx="2578608" cy="2880360"/>
          </a:xfrm>
          <a:prstGeom prst="roundRect">
            <a:avLst>
              <a:gd name="adj" fmla="val 3546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98864" y="2971800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98864" y="36576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Recovery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198864" y="4270248"/>
            <a:ext cx="206654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application recovers to baseline within 60-90 seconds after a sudden traffic spike.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Test Scenarios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160520"/>
          </a:xfrm>
          <a:prstGeom prst="roundRect">
            <a:avLst>
              <a:gd name="adj" fmla="val 2500"/>
            </a:avLst>
          </a:prstGeom>
          <a:solidFill>
            <a:srgbClr val="2B211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UNDER TEST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OrangeHRM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HRMS application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40280" y="3246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Management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68503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240280" y="36850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JMeter 5.6+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240280" y="412394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456285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240280" y="456285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test instance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26280" y="1600200"/>
            <a:ext cx="7114032" cy="1965960"/>
          </a:xfrm>
          <a:prstGeom prst="roundRect">
            <a:avLst>
              <a:gd name="adj" fmla="val 4651"/>
            </a:avLst>
          </a:prstGeom>
          <a:solidFill>
            <a:srgbClr val="FFF1E6"/>
          </a:solidFill>
          <a:ln w="9525">
            <a:solidFill>
              <a:srgbClr val="FDBA74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892808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892808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51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0" y="2350008"/>
            <a:ext cx="6473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Leave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846320" y="2807208"/>
            <a:ext cx="6473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navigates to the Leave module and assigns leave to an employee, exercising the leave-request creation workflow end-to-end.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26280" y="3749040"/>
            <a:ext cx="7114032" cy="1965960"/>
          </a:xfrm>
          <a:prstGeom prst="roundRect">
            <a:avLst>
              <a:gd name="adj" fmla="val 4651"/>
            </a:avLst>
          </a:prstGeom>
          <a:solidFill>
            <a:srgbClr val="FFF1E6"/>
          </a:solidFill>
          <a:ln w="9525">
            <a:solidFill>
              <a:srgbClr val="FDBA74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4041648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4041648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52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46320" y="4498848"/>
            <a:ext cx="6473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Entitlement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956048"/>
            <a:ext cx="6473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an employee's leave entitlement and edits the allotted number of days, exercising the entitlement-update workflow.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Test Run Is Executed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27048" y="1581912"/>
            <a:ext cx="585216" cy="585216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7048" y="15819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20848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Login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208483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Launch_and_Login.jmx opens OrangeHRM and signs in with the built-in default admin credentials to verify the environment is reachable.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08960" y="3154680"/>
            <a:ext cx="2194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46704" y="187452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81912"/>
            <a:ext cx="585216" cy="585216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5112" y="15819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75304" y="2286000"/>
            <a:ext cx="20848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Login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(Created)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75304" y="3108960"/>
            <a:ext cx="208483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Launch_Login_created.jmx signs in using the admin user created by the prerequisite step, confirming new accounts work end-to-end.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07024" y="3154680"/>
            <a:ext cx="2194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144768" y="187452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FF1E6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23176" y="1581912"/>
            <a:ext cx="585216" cy="585216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23176" y="15819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73368" y="2286000"/>
            <a:ext cx="20848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Prerequisite.jmx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 Setup)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373368" y="3108960"/>
            <a:ext cx="208483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employees, admin users, and leave entitlements needed as test data before the real load test runs.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05088" y="3154680"/>
            <a:ext cx="2194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942832" y="187452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EA580C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21240" y="1581912"/>
            <a:ext cx="585216" cy="585216"/>
          </a:xfrm>
          <a:prstGeom prst="ellipse">
            <a:avLst/>
          </a:prstGeom>
          <a:solidFill>
            <a:srgbClr val="C241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1240" y="15819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71432" y="2286000"/>
            <a:ext cx="20848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final1.jmx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(Main Test)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171432" y="3108960"/>
            <a:ext cx="208483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performance test: runs Assign Leave and Edit Entitlement under Load / Stress / Endurance / Spike workload models.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5349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Prerequisite.jmx is run once before each test cycle to (re)generate clean employee, user and entitlement data consumed via CSV Data Set Config in final1.jmx.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Structure Inside final1.jmx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reusable Test Fragment drives both business scenarios, keeping the script DRY and easy to maintain.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66544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65960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949440" y="1965960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Defined Variables · HTTP Request Defaults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960120" y="2523744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1161288" y="2423160"/>
            <a:ext cx="6035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Group (Open Model / Ultimate)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949440" y="2423160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Stress, Endurance or Spike shape applied per run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1371600" y="2939796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1572768" y="2839212"/>
            <a:ext cx="5760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Cookie / Cache / Header Manager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6949440" y="2839212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handling shared across all requests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1371600" y="3355848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1572768" y="3255264"/>
            <a:ext cx="5760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Assign_Leave  &amp;  Edit_Entitlement  (Transaction Controllers)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6949440" y="3255264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business scenario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1783080" y="3771900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1984248" y="3671316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Controller → Include Controller → Test Fragment_Leave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6949440" y="3671316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reusable request flow (login → navigate → act)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1783080" y="4187952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1984248" y="4087368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 Set Config</a:t>
            </a:r>
            <a:endParaRPr lang="en-US" sz="1130" dirty="0"/>
          </a:p>
        </p:txBody>
      </p:sp>
      <p:sp>
        <p:nvSpPr>
          <p:cNvPr id="22" name="Text 20"/>
          <p:cNvSpPr/>
          <p:nvPr/>
        </p:nvSpPr>
        <p:spPr>
          <a:xfrm>
            <a:off x="6949440" y="4087368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empnumber1.csv, entitlementId.csv, admin_users.csv feed unique data per thread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1783080" y="4604004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1984248" y="4503420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Extractor / JSR223 PostProcessor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6949440" y="4503420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Correlates session IDs &amp; CSRF tokens between requests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1783080" y="5020056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7" name="Text 25"/>
          <p:cNvSpPr/>
          <p:nvPr/>
        </p:nvSpPr>
        <p:spPr>
          <a:xfrm>
            <a:off x="1984248" y="4919472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Assertion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6949440" y="4919472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each step returns the expected result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960120" y="5436108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0" name="Text 28"/>
          <p:cNvSpPr/>
          <p:nvPr/>
        </p:nvSpPr>
        <p:spPr>
          <a:xfrm>
            <a:off x="1161288" y="5335524"/>
            <a:ext cx="6035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Listeners: Summary Report · Aggregate Report · View Results Tree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949440" y="5335524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to .jtl for reporting &amp; dashboards</a:t>
            </a:r>
            <a:endParaRPr lang="en-US" sz="1030" dirty="0"/>
          </a:p>
        </p:txBody>
      </p:sp>
      <p:sp>
        <p:nvSpPr>
          <p:cNvPr id="32" name="Shape 30"/>
          <p:cNvSpPr/>
          <p:nvPr/>
        </p:nvSpPr>
        <p:spPr>
          <a:xfrm>
            <a:off x="548640" y="5852160"/>
            <a:ext cx="82296" cy="8229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5751576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Thread Group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949440" y="5751576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employees created during the run to keep data clean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JMeter Components Used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7282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Groups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0756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Model Thread Group (bzm)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Thread Group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Thread Group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53128" y="17282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53128" y="20756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Controller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&amp; Include Controller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/ While Controller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Fragment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56448" y="17282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156448" y="20756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JSR223 Sampler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Sampler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3284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Elements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36758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 Set Config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Defaults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Defined Variables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25196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53128" y="33284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Processors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53128" y="36758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Extractor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Extractor / JSR223 PostProcessor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795528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56448" y="33284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156448" y="36758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Cookie Manager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Cache Manager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Header Manager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9286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9808" y="52760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Assertion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25196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53128" y="49286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453128" y="52760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Timer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Random Timer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795528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1E6"/>
          </a:solidFill>
          <a:ln/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56448" y="4928616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156448" y="527608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Report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Report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Results Tree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Dashboard Report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Load Shapes, One Framework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8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scenarios (Assign Leave &amp; Edit Entitlement) are driven through the same four workload models, each targeting a different non-functional characteristic — following the standard Performance Testing Life Cycle (PTLC).</a:t>
            </a:r>
            <a:endParaRPr lang="en-US" sz="12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7419291"/>
              </p:ext>
            </p:extLst>
          </p:nvPr>
        </p:nvGraphicFramePr>
        <p:xfrm>
          <a:off x="548640" y="2148840"/>
          <a:ext cx="11049311" cy="26517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1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Load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Approx. 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Goal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(Poisson arrivals)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users/min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 min /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expected business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(5-step ramp)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concurrent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~11.7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breaking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Endurance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(sustained plateau)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concurrent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~36.3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leaks / degradation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(sudden burst)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concurrent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recovery from sudden surges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349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Ramp-up → steady-state → ramp-down / cool-down is applied consistently across all four models, per industry PTLC practice.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 · LOAD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Model — Arrival Rate Over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074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3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Model Thread Group (bzm plugin) drives traffic by arrival rate rather than a fixed thread count. random_arrivals() spreads user arrivals randomly within each minute, mimicking genuine uncoordinated user behaviour.</a:t>
            </a:r>
            <a:endParaRPr lang="en-US" sz="123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507492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Ramp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Ramp 2 (peak)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Ramp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Cool-down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5074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run 3–5 repeating cycles (~15–25 min) for a statistically stable p95 response time.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897880" y="1371600"/>
            <a:ext cx="57607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0" descr="assets/loa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08760"/>
            <a:ext cx="5486400" cy="2907792"/>
          </a:xfrm>
          <a:prstGeom prst="rect">
            <a:avLst/>
          </a:prstGeom>
        </p:spPr>
      </p:pic>
      <p:sp>
        <p:nvSpPr>
          <p:cNvPr id="5" name="Text 5"/>
          <p:cNvSpPr/>
          <p:nvPr/>
        </p:nvSpPr>
        <p:spPr>
          <a:xfrm>
            <a:off x="603504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JMeter scheduler view — Load Test arrival-rate schedule</a:t>
            </a:r>
            <a:endParaRPr lang="en-US" sz="1050" dirty="0"/>
          </a:p>
        </p:txBody>
      </p:sp>
      <p:pic>
        <p:nvPicPr>
          <p:cNvPr id="10" name="Image 1" descr="assets/loa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846320"/>
            <a:ext cx="2743200" cy="9601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 · STRESS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Model — Stepped Ramp to 50 Users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3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Thread Group builds concurrency in five overlapping steps of 10 users each, up to a peak of 50 concurrent users, then releases load symmetrically — letting analysts correlate each step with response-time and error trends.</a:t>
            </a:r>
            <a:endParaRPr lang="en-US" sz="12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5074920" cy="2029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5074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climbs 0→50 users by ~min 8:30, plateaus, then symmetrically steps back down by ~min 11:40.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897880" y="1371600"/>
            <a:ext cx="57607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0" descr="assets/stres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08760"/>
            <a:ext cx="5486400" cy="29077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3504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Ultimate Thread Group scheduler — staircase ramp to peak concurrency (jp@gc)</a:t>
            </a:r>
            <a:endParaRPr lang="en-US" sz="1020" dirty="0"/>
          </a:p>
        </p:txBody>
      </p:sp>
      <p:pic>
        <p:nvPicPr>
          <p:cNvPr id="5" name="Image 1" descr="assets/stres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846320"/>
            <a:ext cx="2743200" cy="9601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MODEL · ENDURANCE &amp; SPIKE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Soak &amp; Sudden Surge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120640" cy="4434840"/>
          </a:xfrm>
          <a:prstGeom prst="roundRect">
            <a:avLst>
              <a:gd name="adj" fmla="val 2062"/>
            </a:avLst>
          </a:prstGeom>
          <a:solidFill>
            <a:srgbClr val="FFF1E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 (SOAK) TEST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Single-step Ultimate Thread Group holds a moderate, steady user count for an extended duration to expose memory leaks or gradual decay.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108960"/>
          <a:ext cx="4572000" cy="8229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Ramp-up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For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Ramp-down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s (~33.3 min)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11480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3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concurrent users held for ~33 min (~36.3 min total run) — a pilot-scaled equivalent of a multi-hour production soak test.</a:t>
            </a:r>
            <a:endParaRPr lang="en-US" sz="113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no continuous upward trend in response time or memory/thread usage over the run.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97880" y="1463040"/>
            <a:ext cx="574243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7" name="Image 0" descr="assets/spik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486400" cy="21488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897880" y="3886200"/>
            <a:ext cx="5742432" cy="2011680"/>
          </a:xfrm>
          <a:prstGeom prst="roundRect">
            <a:avLst>
              <a:gd name="adj" fmla="val 4545"/>
            </a:avLst>
          </a:prstGeom>
          <a:solidFill>
            <a:srgbClr val="2B2118"/>
          </a:solidFill>
          <a:ln/>
        </p:spPr>
      </p:sp>
      <p:sp>
        <p:nvSpPr>
          <p:cNvPr id="13" name="Text 9"/>
          <p:cNvSpPr/>
          <p:nvPr/>
        </p:nvSpPr>
        <p:spPr>
          <a:xfrm>
            <a:off x="6172200" y="40416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TEST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172200" y="43434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E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Model Thread Group drives a sudden burst: 1 → 10 → 2 users, validating recovery to baseline response time within a 60–90 second SLA once the spike subsides.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6172200" y="5212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(2) → Sudden Spike (10) → Recovery (3)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REPORTS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Snapshot Across All Runs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below are pulled directly from each run's JMeter HTML Dashboard Report (aggregate “Total” row).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113688"/>
              </p:ext>
            </p:extLst>
          </p:nvPr>
        </p:nvGraphicFramePr>
        <p:xfrm>
          <a:off x="548640" y="1920240"/>
          <a:ext cx="11064240" cy="33604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(ms)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(ms)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 (ms)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 (tx/s)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– Scenario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– Scenario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50" b="1" dirty="0">
                        <a:solidFill>
                          <a:srgbClr val="3A2A1E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Endurance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 – Scenario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 – Scenario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A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and Spike runs stayed close to target error rates. The Stress run's rising error rate marks the approach to the breaking point. The Endurance run's high error % and response-time growth flags a degradation pattern worth root-causing before the next cycle.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&amp; Performance Goals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1E6"/>
          </a:solidFill>
          <a:ln/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1965960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320040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6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95th-percentile response time within 2 seconds under normal (Load Test) conditions.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2779776" y="1691640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1E6"/>
          </a:solidFill>
          <a:ln/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965960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16936" y="265176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44368" y="320040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6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must support at least 20 concurrent users without measurable degradation.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5010912" y="1691640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1E6"/>
          </a:solidFill>
          <a:ln/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79008" y="1965960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5779008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48072" y="265176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75504" y="320040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6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1% during Load and Endurance testing.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7242048" y="1691640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1E6"/>
          </a:solidFill>
          <a:ln/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10144" y="1965960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8010144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79208" y="265176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06640" y="320040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6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spike, response time returns to baseline within 60–90 seconds.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473184" y="1691640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1E6"/>
          </a:solidFill>
          <a:ln/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241280" y="1965960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1024128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10344" y="265176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637776" y="3200400"/>
            <a:ext cx="175564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6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continuous upward trend in response time or memory/thread usage during Endurance.</a:t>
            </a:r>
            <a:endParaRPr lang="en-US" sz="1060" dirty="0"/>
          </a:p>
        </p:txBody>
      </p:sp>
      <p:sp>
        <p:nvSpPr>
          <p:cNvPr id="29" name="Shape 27"/>
          <p:cNvSpPr/>
          <p:nvPr/>
        </p:nvSpPr>
        <p:spPr>
          <a:xfrm>
            <a:off x="548640" y="48463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2B21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52578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E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environment is dedicated and representative of production.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E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credentials &amp; CSV test data (empnumber1.csv) are unique per virtual user.</a:t>
            </a:r>
            <a:endParaRPr lang="en-US" sz="108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80" dirty="0">
                <a:solidFill>
                  <a:srgbClr val="E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values (session IDs, CSRF tokens) are correlated via the Test Fragment / Include Controller.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2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EA580C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60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PTLC Coverage for the Leave Module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9509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7D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combining an open arrival model for everyday load with staged closed models for stress and endurance — plus a recommended spike test — this pilot delivers full Load / Stress / Endurance / Spike coverage for the Assign Leave and Edit Entitlement workflows, giving a confident, repeatable baseline for OrangeHRM's performance going forward.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950976" cy="502920"/>
          </a:xfrm>
          <a:prstGeom prst="roundRect">
            <a:avLst>
              <a:gd name="adj" fmla="val 50909"/>
            </a:avLst>
          </a:prstGeom>
          <a:solidFill>
            <a:srgbClr val="EA580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977640"/>
            <a:ext cx="950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✓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75104" y="3977640"/>
            <a:ext cx="1161288" cy="502920"/>
          </a:xfrm>
          <a:prstGeom prst="roundRect">
            <a:avLst>
              <a:gd name="adj" fmla="val 50909"/>
            </a:avLst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1975104" y="3977640"/>
            <a:ext cx="11612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3977640"/>
            <a:ext cx="1476756" cy="502920"/>
          </a:xfrm>
          <a:prstGeom prst="roundRect">
            <a:avLst>
              <a:gd name="adj" fmla="val 50909"/>
            </a:avLst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3977640"/>
            <a:ext cx="14767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 ✓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15484" y="3977640"/>
            <a:ext cx="2528316" cy="502920"/>
          </a:xfrm>
          <a:prstGeom prst="roundRect">
            <a:avLst>
              <a:gd name="adj" fmla="val 50909"/>
            </a:avLst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015484" y="3977640"/>
            <a:ext cx="25283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(recommended) ✓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0584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257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JMeter Pilot Project — OrangeHRM Leave Management Module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1577</Words>
  <Application>Microsoft Office PowerPoint</Application>
  <PresentationFormat>Widescreen</PresentationFormat>
  <Paragraphs>315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Krishna Prasath</cp:lastModifiedBy>
  <cp:revision>3</cp:revision>
  <dcterms:created xsi:type="dcterms:W3CDTF">2026-07-31T01:20:26Z</dcterms:created>
  <dcterms:modified xsi:type="dcterms:W3CDTF">2026-07-31T04:41:57Z</dcterms:modified>
</cp:coreProperties>
</file>